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35"/>
    <p:restoredTop sz="94606"/>
  </p:normalViewPr>
  <p:slideViewPr>
    <p:cSldViewPr snapToGrid="0">
      <p:cViewPr varScale="1">
        <p:scale>
          <a:sx n="119" d="100"/>
          <a:sy n="119" d="100"/>
        </p:scale>
        <p:origin x="1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FDE61-2BB2-7468-2C1C-5C81C565D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BBAF1-A692-4756-41F4-804EA17F3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875CB-43EC-6A82-0FCF-31FE5E33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B795-F625-DC48-8F65-CABB012C3EC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BE94B-143B-4336-C89D-A456910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69E96-C951-86F3-09F0-8904620EF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1F4C-0AA9-3542-8D43-5E595FC9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416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0188A-34A0-55BC-6FD4-B97E2FF47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656F7-9858-AB33-1CCB-3DD0FA3F8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05DBD-9049-D227-F57C-B7A3BB9C6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B795-F625-DC48-8F65-CABB012C3EC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87C2B-FCB8-A6CF-4D36-B3757831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4E16A-3EBF-D61E-5E1B-B71CACD00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1F4C-0AA9-3542-8D43-5E595FC9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248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353CF-C48B-3B0F-9AE5-72E63FC3E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46C22-958E-FD59-F4EE-EE43C8B1B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35786-46A2-AC14-20BD-8E5924C83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B795-F625-DC48-8F65-CABB012C3EC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DB7A2-C939-F7C9-779B-EE64FE30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C3D19-BB5E-8DDB-D3C2-7291B1A1D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1F4C-0AA9-3542-8D43-5E595FC9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54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CAC4B-D664-5E9C-EB24-3E1789A5F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E971C-3176-F2D1-51E8-5D979BE3C1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17FEA-A17A-19B7-D5AD-05734C56F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A241F-476A-C3D9-E327-7AAD4345D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B795-F625-DC48-8F65-CABB012C3EC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E723B-DEAB-EAD5-01F2-AC360540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44533-A08C-0BD7-6BD3-3AF12993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1F4C-0AA9-3542-8D43-5E595FC9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36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3D0FB-D1F7-D376-C718-A30680471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72569-611F-61A0-0300-9E67BFD36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580A1-6064-BBE5-8EF9-C32844C10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82FC0A-1B71-C275-9CB6-1827F3D2C0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5315F7-CD9F-5AC3-6E8B-3E84C8815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50F8A5-37F5-77B0-9E0E-38F814DAE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B795-F625-DC48-8F65-CABB012C3EC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05557F-7A6C-3D25-91F7-8D79BD6F3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310348-A9BC-27EF-0397-38AC58648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1F4C-0AA9-3542-8D43-5E595FC9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32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B7DE-F04C-AAAA-9416-8F7958C23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61FA73-A90A-1199-B075-A5B59A608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B795-F625-DC48-8F65-CABB012C3EC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A274D-B203-D654-A2D5-551844BBE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932104-4036-CEFC-FF5A-4613FD798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1F4C-0AA9-3542-8D43-5E595FC9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74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4BCA7-AFD7-10CB-96DA-ACE39C15B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B795-F625-DC48-8F65-CABB012C3EC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B6977-DAE3-F30E-132F-1849D3A7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CD759-E4F8-0CA5-7561-47206BBDE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1F4C-0AA9-3542-8D43-5E595FC9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3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15106-9B5F-BFE0-666B-8D6BCE746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71A54-8B01-64D3-B27E-0AA62198F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709B1-DBDF-319B-2B91-E066F5DAC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42AEB-9544-0316-7B91-39A2C1D6D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B795-F625-DC48-8F65-CABB012C3EC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06834-7C98-C1BF-04E8-6920957F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46ADF7-5F3C-4A79-A81A-4ABA491F2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1F4C-0AA9-3542-8D43-5E595FC9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51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BEA8B-571B-E0C8-4DB7-DBA75557C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F7F1A5-96FE-D84E-9F1A-D53B55F4A19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82F79-A0AC-290C-60DF-78913C844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6063C-FF35-0E18-5BC4-3B88CD6B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B795-F625-DC48-8F65-CABB012C3EC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EC921-999D-C497-3B55-A3B0298D5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B628D-B6AA-27C7-1033-E0F77D013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1F4C-0AA9-3542-8D43-5E595FC9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50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34836-BDEF-6A3F-9ACC-F2F502CA1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B98F8B-8A8C-8169-6556-3592EEB43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A3DD-A7F4-B3F0-9C69-FB672E5ED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B795-F625-DC48-8F65-CABB012C3EC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6DC36-AF31-DE71-5183-241DBFC72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5A66C-674E-61FC-929A-AAD7C1121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1F4C-0AA9-3542-8D43-5E595FC9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349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08F618-3FC4-3E71-2B83-1C782604FE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D9F4B-B026-BDCF-D26A-A8850E5C1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6049A-33AE-8AE8-2382-E3EA2FEF2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B795-F625-DC48-8F65-CABB012C3EC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AC6F3-2A79-FDA7-586A-0E775E21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408AB-858D-2A59-CA16-9AB7E67B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1F4C-0AA9-3542-8D43-5E595FC9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70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3DABB6-5C50-A0DB-9809-F5449B3B0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DC130-C845-CE15-2B6D-2D12E2B70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93F44-1C13-7931-1DAA-FA3150A11C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0B795-F625-DC48-8F65-CABB012C3EC7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3269F-A660-31AC-A439-2D7FEE906F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6B0CE-21BE-64F8-C33A-9641DCFCB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CF1F4C-0AA9-3542-8D43-5E595FC99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06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DD8B9-B7F8-472C-1125-5E08880924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From Green Bean to Cup Score</a:t>
            </a:r>
            <a:br>
              <a:rPr lang="en-US" b="1" dirty="0"/>
            </a:br>
            <a:r>
              <a:rPr lang="en-US" sz="2700" b="1" dirty="0"/>
              <a:t>Predicting the cupping score of green coffee with machine learning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5CD0A-54D1-2077-6892-F44B9FB935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Project 2 · Machine Learning: From Data to Predictions</a:t>
            </a:r>
            <a:br>
              <a:rPr lang="en-US" dirty="0"/>
            </a:br>
            <a:r>
              <a:rPr lang="en-US" dirty="0" err="1"/>
              <a:t>Ironhack</a:t>
            </a:r>
            <a:r>
              <a:rPr lang="en-US" dirty="0"/>
              <a:t> · Data Science &amp; Machine Learning</a:t>
            </a:r>
          </a:p>
          <a:p>
            <a:r>
              <a:rPr lang="en-US" dirty="0"/>
              <a:t>Rizki Firdaus · October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922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F6FA9D6-8009-3B03-26E5-945688AFC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186" y="1565626"/>
            <a:ext cx="4955600" cy="372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143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B067D-3E6E-66ED-00A4-F557A8585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5832FD-959B-E921-A2BE-0A814EA9358E}"/>
              </a:ext>
            </a:extLst>
          </p:cNvPr>
          <p:cNvSpPr txBox="1"/>
          <p:nvPr/>
        </p:nvSpPr>
        <p:spPr>
          <a:xfrm>
            <a:off x="7845911" y="197345"/>
            <a:ext cx="4346089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Identity and origin: </a:t>
            </a:r>
          </a:p>
          <a:p>
            <a:r>
              <a:rPr lang="en-US" dirty="0"/>
              <a:t>country, </a:t>
            </a:r>
          </a:p>
          <a:p>
            <a:r>
              <a:rPr lang="en-US" dirty="0"/>
              <a:t>altitude,</a:t>
            </a:r>
          </a:p>
          <a:p>
            <a:r>
              <a:rPr lang="en-US" dirty="0"/>
              <a:t>region,</a:t>
            </a:r>
          </a:p>
          <a:p>
            <a:r>
              <a:rPr lang="en-US" dirty="0"/>
              <a:t>species, </a:t>
            </a:r>
          </a:p>
          <a:p>
            <a:r>
              <a:rPr lang="en-US" dirty="0"/>
              <a:t>variety or cultivar, </a:t>
            </a:r>
          </a:p>
          <a:p>
            <a:r>
              <a:rPr lang="en-US" dirty="0"/>
              <a:t>+ farm or lot, harvest year</a:t>
            </a:r>
          </a:p>
          <a:p>
            <a:r>
              <a:rPr lang="en-US" dirty="0"/>
              <a:t>+ total coffee harvested</a:t>
            </a:r>
          </a:p>
          <a:p>
            <a:endParaRPr lang="en-US" dirty="0"/>
          </a:p>
          <a:p>
            <a:r>
              <a:rPr lang="en-US" dirty="0"/>
              <a:t>Composition: </a:t>
            </a:r>
          </a:p>
          <a:p>
            <a:r>
              <a:rPr lang="en-US" dirty="0"/>
              <a:t>caffeine, </a:t>
            </a:r>
          </a:p>
          <a:p>
            <a:r>
              <a:rPr lang="en-US" dirty="0"/>
              <a:t>chlorogenic acids, </a:t>
            </a:r>
          </a:p>
          <a:p>
            <a:r>
              <a:rPr lang="en-US" dirty="0"/>
              <a:t>trigonelline, </a:t>
            </a:r>
          </a:p>
          <a:p>
            <a:r>
              <a:rPr lang="en-US" dirty="0"/>
              <a:t>protein, </a:t>
            </a:r>
          </a:p>
          <a:p>
            <a:r>
              <a:rPr lang="en-US" dirty="0"/>
              <a:t>lipids, </a:t>
            </a:r>
          </a:p>
          <a:p>
            <a:r>
              <a:rPr lang="en-US" dirty="0"/>
              <a:t>sugars, </a:t>
            </a:r>
          </a:p>
          <a:p>
            <a:r>
              <a:rPr lang="en-US" dirty="0"/>
              <a:t>+ other measured chemistry</a:t>
            </a:r>
          </a:p>
          <a:p>
            <a:endParaRPr lang="en-US" dirty="0"/>
          </a:p>
          <a:p>
            <a:r>
              <a:rPr lang="en-US" dirty="0"/>
              <a:t>Processing technology: </a:t>
            </a:r>
          </a:p>
          <a:p>
            <a:r>
              <a:rPr lang="en-US" dirty="0"/>
              <a:t>washed, natural, honey, wet-hulled, anaerobic and fermentations, carbonic maceration, civet (</a:t>
            </a:r>
            <a:r>
              <a:rPr lang="en-US" dirty="0" err="1"/>
              <a:t>luwak</a:t>
            </a:r>
            <a:r>
              <a:rPr lang="en-US" dirty="0"/>
              <a:t>) processing, drying method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3E928F-B2EB-9278-A045-3D3603B2C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186" y="1565626"/>
            <a:ext cx="4955600" cy="372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160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0592E40-9EC9-C9E6-194A-AB5C64C3F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186" y="1565626"/>
            <a:ext cx="4955600" cy="37267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449D6C-DD9F-54F3-F682-4549EDA7E38B}"/>
              </a:ext>
            </a:extLst>
          </p:cNvPr>
          <p:cNvSpPr txBox="1"/>
          <p:nvPr/>
        </p:nvSpPr>
        <p:spPr>
          <a:xfrm>
            <a:off x="5995755" y="335845"/>
            <a:ext cx="190090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Final Cup Score:</a:t>
            </a:r>
          </a:p>
          <a:p>
            <a:endParaRPr lang="en-US" b="1" dirty="0"/>
          </a:p>
          <a:p>
            <a:pPr algn="ctr"/>
            <a:r>
              <a:rPr lang="en-US" sz="5400" b="1" dirty="0"/>
              <a:t>93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23CE2F-DB4B-0F32-8CE3-1CC293145C17}"/>
              </a:ext>
            </a:extLst>
          </p:cNvPr>
          <p:cNvSpPr txBox="1"/>
          <p:nvPr/>
        </p:nvSpPr>
        <p:spPr>
          <a:xfrm>
            <a:off x="7845911" y="197345"/>
            <a:ext cx="4346089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Identity and origin: </a:t>
            </a:r>
          </a:p>
          <a:p>
            <a:r>
              <a:rPr lang="en-US" dirty="0"/>
              <a:t>country, </a:t>
            </a:r>
          </a:p>
          <a:p>
            <a:r>
              <a:rPr lang="en-US" dirty="0"/>
              <a:t>altitude,</a:t>
            </a:r>
          </a:p>
          <a:p>
            <a:r>
              <a:rPr lang="en-US" dirty="0"/>
              <a:t>region,</a:t>
            </a:r>
          </a:p>
          <a:p>
            <a:r>
              <a:rPr lang="en-US" dirty="0"/>
              <a:t>species, </a:t>
            </a:r>
          </a:p>
          <a:p>
            <a:r>
              <a:rPr lang="en-US" dirty="0"/>
              <a:t>variety or cultivar, </a:t>
            </a:r>
          </a:p>
          <a:p>
            <a:r>
              <a:rPr lang="en-US" dirty="0"/>
              <a:t>+ farm or lot, harvest year</a:t>
            </a:r>
          </a:p>
          <a:p>
            <a:r>
              <a:rPr lang="en-US" dirty="0"/>
              <a:t>+ total coffee harvested</a:t>
            </a:r>
          </a:p>
          <a:p>
            <a:endParaRPr lang="en-US" dirty="0"/>
          </a:p>
          <a:p>
            <a:r>
              <a:rPr lang="en-US" dirty="0"/>
              <a:t>Composition: </a:t>
            </a:r>
          </a:p>
          <a:p>
            <a:r>
              <a:rPr lang="en-US" dirty="0"/>
              <a:t>caffeine, </a:t>
            </a:r>
          </a:p>
          <a:p>
            <a:r>
              <a:rPr lang="en-US" dirty="0"/>
              <a:t>chlorogenic acids, </a:t>
            </a:r>
          </a:p>
          <a:p>
            <a:r>
              <a:rPr lang="en-US" dirty="0"/>
              <a:t>trigonelline, </a:t>
            </a:r>
          </a:p>
          <a:p>
            <a:r>
              <a:rPr lang="en-US" dirty="0"/>
              <a:t>protein, </a:t>
            </a:r>
          </a:p>
          <a:p>
            <a:r>
              <a:rPr lang="en-US" dirty="0"/>
              <a:t>lipids, </a:t>
            </a:r>
          </a:p>
          <a:p>
            <a:r>
              <a:rPr lang="en-US" dirty="0"/>
              <a:t>sugars, </a:t>
            </a:r>
          </a:p>
          <a:p>
            <a:r>
              <a:rPr lang="en-US" dirty="0"/>
              <a:t>+ other measured chemistry</a:t>
            </a:r>
          </a:p>
          <a:p>
            <a:endParaRPr lang="en-US" dirty="0"/>
          </a:p>
          <a:p>
            <a:r>
              <a:rPr lang="en-US" dirty="0"/>
              <a:t>Processing technology: </a:t>
            </a:r>
          </a:p>
          <a:p>
            <a:r>
              <a:rPr lang="en-US" dirty="0"/>
              <a:t>washed, natural, honey, wet-hulled, anaerobic and fermentations, carbonic maceration, civet (</a:t>
            </a:r>
            <a:r>
              <a:rPr lang="en-US" dirty="0" err="1"/>
              <a:t>luwak</a:t>
            </a:r>
            <a:r>
              <a:rPr lang="en-US" dirty="0"/>
              <a:t>) processing, drying method</a:t>
            </a:r>
          </a:p>
        </p:txBody>
      </p:sp>
    </p:spTree>
    <p:extLst>
      <p:ext uri="{BB962C8B-B14F-4D97-AF65-F5344CB8AC3E}">
        <p14:creationId xmlns:p14="http://schemas.microsoft.com/office/powerpoint/2010/main" val="4111545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35C271-9570-288F-CB9E-BD6FBF226037}"/>
              </a:ext>
            </a:extLst>
          </p:cNvPr>
          <p:cNvSpPr txBox="1">
            <a:spLocks/>
          </p:cNvSpPr>
          <p:nvPr/>
        </p:nvSpPr>
        <p:spPr>
          <a:xfrm>
            <a:off x="8852119" y="2581117"/>
            <a:ext cx="2956986" cy="2062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Visual Identification</a:t>
            </a:r>
          </a:p>
          <a:p>
            <a:pPr lvl="1"/>
            <a:r>
              <a:rPr lang="en-US"/>
              <a:t>Size</a:t>
            </a:r>
          </a:p>
          <a:p>
            <a:pPr lvl="1"/>
            <a:r>
              <a:rPr lang="en-US"/>
              <a:t>Colour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71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8F14A-634D-2DC7-E3FD-BB15592EA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CC60D26-CAC1-A780-E908-180569073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2119" y="2581117"/>
            <a:ext cx="2956986" cy="2062190"/>
          </a:xfrm>
        </p:spPr>
        <p:txBody>
          <a:bodyPr>
            <a:normAutofit/>
          </a:bodyPr>
          <a:lstStyle/>
          <a:p>
            <a:r>
              <a:rPr lang="en-US" dirty="0"/>
              <a:t>Visual Identification</a:t>
            </a:r>
          </a:p>
          <a:p>
            <a:pPr lvl="1"/>
            <a:r>
              <a:rPr lang="en-US" dirty="0"/>
              <a:t>Size</a:t>
            </a:r>
          </a:p>
          <a:p>
            <a:pPr lvl="1"/>
            <a:r>
              <a:rPr lang="en-US" dirty="0" err="1"/>
              <a:t>Colour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CAC053-2FEE-C727-E670-2EDDC1532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950" y="2075504"/>
            <a:ext cx="3561288" cy="270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695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8D5E5-89FE-B4F4-8E6F-562A91142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AB16E-0F55-4AC7-D8C2-292BD2B42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2119" y="2581117"/>
            <a:ext cx="2956986" cy="2062190"/>
          </a:xfrm>
        </p:spPr>
        <p:txBody>
          <a:bodyPr>
            <a:normAutofit/>
          </a:bodyPr>
          <a:lstStyle/>
          <a:p>
            <a:r>
              <a:rPr lang="en-US" dirty="0"/>
              <a:t>Visual Identification</a:t>
            </a:r>
          </a:p>
          <a:p>
            <a:pPr lvl="1"/>
            <a:r>
              <a:rPr lang="en-US" dirty="0"/>
              <a:t>Size</a:t>
            </a:r>
          </a:p>
          <a:p>
            <a:pPr lvl="1"/>
            <a:r>
              <a:rPr lang="en-US" dirty="0" err="1"/>
              <a:t>Colour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2A965A-6805-3380-5B54-6C8186336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02" y="2049756"/>
            <a:ext cx="3608483" cy="27063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9FAA3D-F92A-A9B3-646F-4940076D4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950" y="2075504"/>
            <a:ext cx="3561288" cy="270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6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F585A4-A593-7103-3FFA-17D503BA9A74}"/>
              </a:ext>
            </a:extLst>
          </p:cNvPr>
          <p:cNvSpPr txBox="1"/>
          <p:nvPr/>
        </p:nvSpPr>
        <p:spPr>
          <a:xfrm>
            <a:off x="5995755" y="335845"/>
            <a:ext cx="190090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Final Cup Score:</a:t>
            </a:r>
          </a:p>
          <a:p>
            <a:endParaRPr lang="en-US" b="1" dirty="0"/>
          </a:p>
          <a:p>
            <a:pPr algn="ctr"/>
            <a:r>
              <a:rPr lang="en-US" sz="5400" b="1" dirty="0"/>
              <a:t>__</a:t>
            </a:r>
          </a:p>
        </p:txBody>
      </p:sp>
    </p:spTree>
    <p:extLst>
      <p:ext uri="{BB962C8B-B14F-4D97-AF65-F5344CB8AC3E}">
        <p14:creationId xmlns:p14="http://schemas.microsoft.com/office/powerpoint/2010/main" val="1622400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2332C-EDBC-B219-64FF-6BA8266CD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7EBACE-2A48-501C-1E0D-389EB1357D4B}"/>
              </a:ext>
            </a:extLst>
          </p:cNvPr>
          <p:cNvSpPr txBox="1"/>
          <p:nvPr/>
        </p:nvSpPr>
        <p:spPr>
          <a:xfrm>
            <a:off x="5995755" y="335845"/>
            <a:ext cx="190090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Final Cup Score:</a:t>
            </a:r>
          </a:p>
          <a:p>
            <a:endParaRPr lang="en-US" b="1" dirty="0"/>
          </a:p>
          <a:p>
            <a:pPr algn="ctr"/>
            <a:r>
              <a:rPr lang="en-US" sz="5400" b="1" dirty="0"/>
              <a:t>__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26B666-CDE2-7662-3EB6-80516FBD6DF7}"/>
              </a:ext>
            </a:extLst>
          </p:cNvPr>
          <p:cNvSpPr txBox="1"/>
          <p:nvPr/>
        </p:nvSpPr>
        <p:spPr>
          <a:xfrm>
            <a:off x="7845911" y="197345"/>
            <a:ext cx="4346089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Identity and origin: </a:t>
            </a:r>
          </a:p>
          <a:p>
            <a:r>
              <a:rPr lang="en-US" dirty="0"/>
              <a:t>country, </a:t>
            </a:r>
          </a:p>
          <a:p>
            <a:r>
              <a:rPr lang="en-US" dirty="0"/>
              <a:t>altitude,</a:t>
            </a:r>
          </a:p>
          <a:p>
            <a:r>
              <a:rPr lang="en-US" dirty="0"/>
              <a:t>region,</a:t>
            </a:r>
          </a:p>
          <a:p>
            <a:r>
              <a:rPr lang="en-US" dirty="0"/>
              <a:t>species, </a:t>
            </a:r>
          </a:p>
          <a:p>
            <a:r>
              <a:rPr lang="en-US" dirty="0"/>
              <a:t>variety or cultivar, </a:t>
            </a:r>
          </a:p>
          <a:p>
            <a:r>
              <a:rPr lang="en-US" dirty="0"/>
              <a:t>+ farm or lot, harvest year</a:t>
            </a:r>
          </a:p>
          <a:p>
            <a:r>
              <a:rPr lang="en-US" dirty="0"/>
              <a:t>+ total coffee harvested</a:t>
            </a:r>
          </a:p>
          <a:p>
            <a:endParaRPr lang="en-US" dirty="0"/>
          </a:p>
          <a:p>
            <a:r>
              <a:rPr lang="en-US" dirty="0"/>
              <a:t>Composition: </a:t>
            </a:r>
          </a:p>
          <a:p>
            <a:r>
              <a:rPr lang="en-US" dirty="0"/>
              <a:t>caffeine, </a:t>
            </a:r>
          </a:p>
          <a:p>
            <a:r>
              <a:rPr lang="en-US" dirty="0"/>
              <a:t>chlorogenic acids, </a:t>
            </a:r>
          </a:p>
          <a:p>
            <a:r>
              <a:rPr lang="en-US" dirty="0"/>
              <a:t>trigonelline, </a:t>
            </a:r>
          </a:p>
          <a:p>
            <a:r>
              <a:rPr lang="en-US" dirty="0"/>
              <a:t>protein, </a:t>
            </a:r>
          </a:p>
          <a:p>
            <a:r>
              <a:rPr lang="en-US" dirty="0"/>
              <a:t>lipids, </a:t>
            </a:r>
          </a:p>
          <a:p>
            <a:r>
              <a:rPr lang="en-US" dirty="0"/>
              <a:t>sugars, </a:t>
            </a:r>
          </a:p>
          <a:p>
            <a:r>
              <a:rPr lang="en-US" dirty="0"/>
              <a:t>+ other measured chemistry</a:t>
            </a:r>
          </a:p>
          <a:p>
            <a:endParaRPr lang="en-US" dirty="0"/>
          </a:p>
          <a:p>
            <a:r>
              <a:rPr lang="en-US" dirty="0"/>
              <a:t>Processing technology: </a:t>
            </a:r>
          </a:p>
          <a:p>
            <a:r>
              <a:rPr lang="en-US" dirty="0"/>
              <a:t>washed, natural, honey, wet-hulled, anaerobic and fermentations, carbonic maceration, civet (</a:t>
            </a:r>
            <a:r>
              <a:rPr lang="en-US" dirty="0" err="1"/>
              <a:t>luwak</a:t>
            </a:r>
            <a:r>
              <a:rPr lang="en-US" dirty="0"/>
              <a:t>) processing, drying method</a:t>
            </a:r>
          </a:p>
        </p:txBody>
      </p:sp>
    </p:spTree>
    <p:extLst>
      <p:ext uri="{BB962C8B-B14F-4D97-AF65-F5344CB8AC3E}">
        <p14:creationId xmlns:p14="http://schemas.microsoft.com/office/powerpoint/2010/main" val="1616180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CA9EB2-E1FF-D6D4-6D1D-F37C6A1EC013}"/>
              </a:ext>
            </a:extLst>
          </p:cNvPr>
          <p:cNvSpPr txBox="1"/>
          <p:nvPr/>
        </p:nvSpPr>
        <p:spPr>
          <a:xfrm>
            <a:off x="5995755" y="335845"/>
            <a:ext cx="190090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Final Cup Score:</a:t>
            </a:r>
          </a:p>
          <a:p>
            <a:endParaRPr lang="en-US" b="1" dirty="0"/>
          </a:p>
          <a:p>
            <a:pPr algn="ctr"/>
            <a:r>
              <a:rPr lang="en-US" sz="5400" b="1" dirty="0"/>
              <a:t>__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28136A-08F4-DCD0-C235-1244AC5DE658}"/>
              </a:ext>
            </a:extLst>
          </p:cNvPr>
          <p:cNvSpPr txBox="1"/>
          <p:nvPr/>
        </p:nvSpPr>
        <p:spPr>
          <a:xfrm>
            <a:off x="7845911" y="197345"/>
            <a:ext cx="4346089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Identity and origin: </a:t>
            </a:r>
          </a:p>
          <a:p>
            <a:r>
              <a:rPr lang="en-US" dirty="0"/>
              <a:t>country, </a:t>
            </a:r>
          </a:p>
          <a:p>
            <a:r>
              <a:rPr lang="en-US" dirty="0"/>
              <a:t>altitude,</a:t>
            </a:r>
          </a:p>
          <a:p>
            <a:r>
              <a:rPr lang="en-US" dirty="0"/>
              <a:t>region,</a:t>
            </a:r>
          </a:p>
          <a:p>
            <a:r>
              <a:rPr lang="en-US" dirty="0"/>
              <a:t>species, </a:t>
            </a:r>
          </a:p>
          <a:p>
            <a:r>
              <a:rPr lang="en-US" dirty="0"/>
              <a:t>variety or cultivar, </a:t>
            </a:r>
          </a:p>
          <a:p>
            <a:r>
              <a:rPr lang="en-US" dirty="0"/>
              <a:t>+ farm or lot, harvest year</a:t>
            </a:r>
          </a:p>
          <a:p>
            <a:r>
              <a:rPr lang="en-US" dirty="0"/>
              <a:t>+ total coffee harvested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Composition: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caffeine,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chlorogenic acids,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trigonelline,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protein,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lipids,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sugars,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+ other measured chemistry</a:t>
            </a:r>
          </a:p>
          <a:p>
            <a:endParaRPr lang="en-US" dirty="0"/>
          </a:p>
          <a:p>
            <a:r>
              <a:rPr lang="en-US" dirty="0"/>
              <a:t>Processing technology: </a:t>
            </a:r>
          </a:p>
          <a:p>
            <a:r>
              <a:rPr lang="en-US" dirty="0"/>
              <a:t>washed, natural, honey, wet-hulled, anaerobic and fermentations, carbonic maceration, civet (</a:t>
            </a:r>
            <a:r>
              <a:rPr lang="en-US" dirty="0" err="1"/>
              <a:t>luwak</a:t>
            </a:r>
            <a:r>
              <a:rPr lang="en-US" dirty="0"/>
              <a:t>) processing, drying method</a:t>
            </a:r>
          </a:p>
        </p:txBody>
      </p:sp>
    </p:spTree>
    <p:extLst>
      <p:ext uri="{BB962C8B-B14F-4D97-AF65-F5344CB8AC3E}">
        <p14:creationId xmlns:p14="http://schemas.microsoft.com/office/powerpoint/2010/main" val="3286109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75C76-DD98-EBB3-9132-FF8D3D48B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</a:t>
            </a:r>
          </a:p>
        </p:txBody>
      </p:sp>
    </p:spTree>
    <p:extLst>
      <p:ext uri="{BB962C8B-B14F-4D97-AF65-F5344CB8AC3E}">
        <p14:creationId xmlns:p14="http://schemas.microsoft.com/office/powerpoint/2010/main" val="3051746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363</Words>
  <Application>Microsoft Macintosh PowerPoint</Application>
  <PresentationFormat>Widescreen</PresentationFormat>
  <Paragraphs>105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From Green Bean to Cup Score Predicting the cupping score of green coffee with machine learning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Rizki Firdaus</dc:creator>
  <cp:lastModifiedBy>Rizki Firdaus</cp:lastModifiedBy>
  <cp:revision>1</cp:revision>
  <dcterms:created xsi:type="dcterms:W3CDTF">2026-10-22T08:06:23Z</dcterms:created>
  <dcterms:modified xsi:type="dcterms:W3CDTF">2026-10-22T13:23:37Z</dcterms:modified>
</cp:coreProperties>
</file>